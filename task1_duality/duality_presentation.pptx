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goal in one sentence: by the end of this talk, you should understand not just what duality IS, but WHY it is guaranteed to work for convex problems, and what it buys us computationally. This isn't a definitions talk -- it's a 'here is the machine and here is why it runs'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plainly: the primal is the original question, exactly as given. Motivate duality as: sometimes an easier, related problem gives you the same answer, or reveals structure the primal hides (foreshadow: the SVM kernel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wall-and-ball picture verbally if asked to elaborate: cost is a valley, the unconstrained ball rolls to the bottom, the constraint is a wall. At rest, the downhill pull and the wall's push-back exactly balance -- that balance IS the stationarity condition, dL/dx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x has been fully solved out of g(lambda) -- it's a function of lambda alone. The dual asks a fundamentally different question about the same physical setup, using the balance-of-forces relationship to infer position from 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this proof never used convexity anywhere -- weak duality is a universal fact. Strong duality (next) is the special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Slater's condition rules out degenerate feasible regions with zero interior -- e.g. a region that has shrunk to a single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re-derive g(lambda) live on request: L(x,lambda)=x^2+lambda(1-x), dL/dx=2x-lambda=0 -&gt; x=lambda/2, substitute back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 to say out loud: 'for a convex problem, these four conditions are not just necessary -- they're sufficient. A solver reporting them satisfied IS the proof of global optimality, not just a stopping heuristic.'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theorem (sensitivity analysis in convex optimization), derived here, not asserted. Loosening a constraint by epsilon changes cost by roughly -lambda*epsilon.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to go further on the non-convex case: minimizing the Lagrangian over x pushes x to +/-infinity for -x^2 unless lambda exactly cancels the curvature, so g(lambda) is -infinity almost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Task 2 and Task 3 -- everything just covered is the same machinery, not new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a personal cheat sheet -- don't necessarily show it if time is short, but have these three answers ready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Transition naturally into Task 2 if the mentor wants to see the SVM dual derivation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2103120"/>
            <a:ext cx="10698480" cy="10972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Principle of Duality</a:t>
            </a:r>
            <a:endParaRPr lang="en-US" sz="4400" dirty="0"/>
          </a:p>
        </p:txBody>
      </p:sp>
      <p:sp>
        <p:nvSpPr>
          <p:cNvPr id="3" name="Text 1"/>
          <p:cNvSpPr/>
          <p:nvPr/>
        </p:nvSpPr>
        <p:spPr>
          <a:xfrm>
            <a:off x="731520" y="3154680"/>
            <a:ext cx="1069848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Primal, dual, and KKT — from first principles</a:t>
            </a:r>
            <a:endParaRPr lang="en-US" sz="2000" dirty="0"/>
          </a:p>
        </p:txBody>
      </p:sp>
      <p:sp>
        <p:nvSpPr>
          <p:cNvPr id="4" name="Text 2"/>
          <p:cNvSpPr/>
          <p:nvPr/>
        </p:nvSpPr>
        <p:spPr>
          <a:xfrm>
            <a:off x="731520" y="6035040"/>
            <a:ext cx="10698480" cy="36576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iCog Labs Optimization Challenge  ·  Task 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THE MOTIVATION</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Why build a second problem at all?</a:t>
            </a:r>
            <a:endParaRPr lang="en-US" sz="3000" dirty="0"/>
          </a:p>
        </p:txBody>
      </p:sp>
      <p:sp>
        <p:nvSpPr>
          <p:cNvPr id="4" name="Text 2"/>
          <p:cNvSpPr/>
          <p:nvPr/>
        </p:nvSpPr>
        <p:spPr>
          <a:xfrm>
            <a:off x="548640" y="1554480"/>
            <a:ext cx="5486400" cy="36576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The primal problem</a:t>
            </a:r>
            <a:endParaRPr lang="en-US" sz="1800" dirty="0"/>
          </a:p>
        </p:txBody>
      </p:sp>
      <p:sp>
        <p:nvSpPr>
          <p:cNvPr id="5" name="Shape 3"/>
          <p:cNvSpPr/>
          <p:nvPr/>
        </p:nvSpPr>
        <p:spPr>
          <a:xfrm>
            <a:off x="548640" y="1965960"/>
            <a:ext cx="5486400" cy="1005840"/>
          </a:xfrm>
          <a:prstGeom prst="roundRect">
            <a:avLst>
              <a:gd name="adj" fmla="val 7273"/>
            </a:avLst>
          </a:prstGeom>
          <a:solidFill>
            <a:srgbClr val="F2F4FA"/>
          </a:solidFill>
          <a:ln/>
        </p:spPr>
      </p:sp>
      <p:sp>
        <p:nvSpPr>
          <p:cNvPr id="6" name="Text 4"/>
          <p:cNvSpPr/>
          <p:nvPr/>
        </p:nvSpPr>
        <p:spPr>
          <a:xfrm>
            <a:off x="777240" y="2148840"/>
            <a:ext cx="5029200" cy="640080"/>
          </a:xfrm>
          <a:prstGeom prst="rect">
            <a:avLst/>
          </a:prstGeom>
          <a:noFill/>
          <a:ln/>
        </p:spPr>
        <p:txBody>
          <a:bodyPr wrap="square" lIns="0" tIns="0" rIns="0" bIns="0" rtlCol="0" anchor="ctr"/>
          <a:lstStyle/>
          <a:p>
            <a:pPr indent="0" marL="0">
              <a:buNone/>
            </a:pPr>
            <a:r>
              <a:rPr lang="en-US" sz="1900" b="1" dirty="0">
                <a:solidFill>
                  <a:srgbClr val="1E2761"/>
                </a:solidFill>
                <a:latin typeface="Calibri" pitchFamily="34" charset="0"/>
                <a:ea typeface="Calibri" pitchFamily="34" charset="-122"/>
                <a:cs typeface="Calibri" pitchFamily="34" charset="-120"/>
              </a:rPr>
              <a:t>min f(x)   s.t.   h(x) ≤ 0</a:t>
            </a:r>
            <a:endParaRPr lang="en-US" sz="1900" dirty="0"/>
          </a:p>
        </p:txBody>
      </p:sp>
      <p:sp>
        <p:nvSpPr>
          <p:cNvPr id="7" name="Text 5"/>
          <p:cNvSpPr/>
          <p:nvPr/>
        </p:nvSpPr>
        <p:spPr>
          <a:xfrm>
            <a:off x="548640" y="3200400"/>
            <a:ext cx="5486400" cy="201168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500" dirty="0">
                <a:solidFill>
                  <a:srgbClr val="3A3A3A"/>
                </a:solidFill>
                <a:latin typeface="Calibri" pitchFamily="34" charset="0"/>
                <a:ea typeface="Calibri" pitchFamily="34" charset="-122"/>
                <a:cs typeface="Calibri" pitchFamily="34" charset="-120"/>
              </a:rPr>
              <a:t>f(x): the cost we want to minimize</a:t>
            </a:r>
            <a:endParaRPr lang="en-US" sz="1500" dirty="0"/>
          </a:p>
          <a:p>
            <a:pPr marL="342900" indent="-342900">
              <a:lnSpc>
                <a:spcPct val="130000"/>
              </a:lnSpc>
              <a:spcAft>
                <a:spcPts val="800"/>
              </a:spcAft>
              <a:buSzPct val="100000"/>
              <a:buChar char="•"/>
            </a:pPr>
            <a:r>
              <a:rPr lang="en-US" sz="1500" dirty="0">
                <a:solidFill>
                  <a:srgbClr val="3A3A3A"/>
                </a:solidFill>
                <a:latin typeface="Calibri" pitchFamily="34" charset="0"/>
                <a:ea typeface="Calibri" pitchFamily="34" charset="-122"/>
                <a:cs typeface="Calibri" pitchFamily="34" charset="-120"/>
              </a:rPr>
              <a:t>h(x) ≤ 0: the rules the choice must obey</a:t>
            </a:r>
            <a:endParaRPr lang="en-US" sz="1500" dirty="0"/>
          </a:p>
          <a:p>
            <a:pPr marL="342900" indent="-342900">
              <a:lnSpc>
                <a:spcPct val="130000"/>
              </a:lnSpc>
              <a:spcAft>
                <a:spcPts val="800"/>
              </a:spcAft>
              <a:buSzPct val="100000"/>
              <a:buChar char="•"/>
            </a:pPr>
            <a:r>
              <a:rPr lang="en-US" sz="1500" dirty="0">
                <a:solidFill>
                  <a:srgbClr val="3A3A3A"/>
                </a:solidFill>
                <a:latin typeface="Calibri" pitchFamily="34" charset="0"/>
                <a:ea typeface="Calibri" pitchFamily="34" charset="-122"/>
                <a:cs typeface="Calibri" pitchFamily="34" charset="-120"/>
              </a:rPr>
              <a:t>Solving this directly can be hard: many variables, many constraints</a:t>
            </a:r>
            <a:endParaRPr lang="en-US" sz="1500" dirty="0"/>
          </a:p>
        </p:txBody>
      </p:sp>
      <p:sp>
        <p:nvSpPr>
          <p:cNvPr id="8" name="Shape 6"/>
          <p:cNvSpPr/>
          <p:nvPr/>
        </p:nvSpPr>
        <p:spPr>
          <a:xfrm>
            <a:off x="7589520" y="2651760"/>
            <a:ext cx="914400" cy="914400"/>
          </a:xfrm>
          <a:prstGeom prst="ellipse">
            <a:avLst/>
          </a:prstGeom>
          <a:solidFill>
            <a:srgbClr val="C9922E"/>
          </a:solidFill>
          <a:ln/>
        </p:spPr>
      </p:sp>
      <p:sp>
        <p:nvSpPr>
          <p:cNvPr id="9" name="Text 7"/>
          <p:cNvSpPr/>
          <p:nvPr/>
        </p:nvSpPr>
        <p:spPr>
          <a:xfrm>
            <a:off x="7589520" y="2651760"/>
            <a:ext cx="914400" cy="9144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6675120" y="3703320"/>
            <a:ext cx="4754880" cy="914400"/>
          </a:xfrm>
          <a:prstGeom prst="rect">
            <a:avLst/>
          </a:prstGeom>
          <a:noFill/>
          <a:ln/>
        </p:spPr>
        <p:txBody>
          <a:bodyPr wrap="square" lIns="0" tIns="0" rIns="0" bIns="0" rtlCol="0" anchor="ctr"/>
          <a:lstStyle/>
          <a:p>
            <a:pPr algn="ctr" indent="0" marL="0">
              <a:buNone/>
            </a:pPr>
            <a:r>
              <a:rPr lang="en-US" sz="1600" i="1" dirty="0">
                <a:solidFill>
                  <a:srgbClr val="1E2761"/>
                </a:solidFill>
                <a:latin typeface="Calibri" pitchFamily="34" charset="0"/>
                <a:ea typeface="Calibri" pitchFamily="34" charset="-122"/>
                <a:cs typeface="Calibri" pitchFamily="34" charset="-120"/>
              </a:rPr>
              <a:t>Is there a related, easier problem that gives the exact same answer?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STEP 1</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Lagrangian: folding constraints into the objective</a:t>
            </a:r>
            <a:endParaRPr lang="en-US" sz="3000" dirty="0"/>
          </a:p>
        </p:txBody>
      </p:sp>
      <p:sp>
        <p:nvSpPr>
          <p:cNvPr id="4" name="Shape 2"/>
          <p:cNvSpPr/>
          <p:nvPr/>
        </p:nvSpPr>
        <p:spPr>
          <a:xfrm>
            <a:off x="548640" y="1600200"/>
            <a:ext cx="11064240" cy="914400"/>
          </a:xfrm>
          <a:prstGeom prst="roundRect">
            <a:avLst>
              <a:gd name="adj" fmla="val 8000"/>
            </a:avLst>
          </a:prstGeom>
          <a:solidFill>
            <a:srgbClr val="F2F4FA"/>
          </a:solidFill>
          <a:ln/>
        </p:spPr>
      </p:sp>
      <p:sp>
        <p:nvSpPr>
          <p:cNvPr id="5" name="Text 3"/>
          <p:cNvSpPr/>
          <p:nvPr/>
        </p:nvSpPr>
        <p:spPr>
          <a:xfrm>
            <a:off x="822960" y="1600200"/>
            <a:ext cx="10515600" cy="91440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ℒ(x, λ) = f(x) + λ h(x),      λ ≥ 0</a:t>
            </a:r>
            <a:endParaRPr lang="en-US" sz="2200" dirty="0"/>
          </a:p>
        </p:txBody>
      </p:sp>
      <p:sp>
        <p:nvSpPr>
          <p:cNvPr id="6" name="Text 4"/>
          <p:cNvSpPr/>
          <p:nvPr/>
        </p:nvSpPr>
        <p:spPr>
          <a:xfrm>
            <a:off x="548640" y="2834640"/>
            <a:ext cx="11064240" cy="2377440"/>
          </a:xfrm>
          <a:prstGeom prst="rect">
            <a:avLst/>
          </a:prstGeom>
          <a:noFill/>
          <a:ln/>
        </p:spPr>
        <p:txBody>
          <a:bodyPr wrap="square" lIns="0" tIns="0" rIns="0" bIns="0" rtlCol="0" anchor="ctr"/>
          <a:lstStyle/>
          <a:p>
            <a:pPr marL="342900" indent="-342900">
              <a:lnSpc>
                <a:spcPct val="135000"/>
              </a:lnSpc>
              <a:spcAft>
                <a:spcPts val="1000"/>
              </a:spcAft>
              <a:buSzPct val="100000"/>
              <a:buChar char="•"/>
            </a:pPr>
            <a:r>
              <a:rPr lang="en-US" sz="1600" dirty="0">
                <a:solidFill>
                  <a:srgbClr val="3A3A3A"/>
                </a:solidFill>
                <a:latin typeface="Calibri" pitchFamily="34" charset="0"/>
                <a:ea typeface="Calibri" pitchFamily="34" charset="-122"/>
                <a:cs typeface="Calibri" pitchFamily="34" charset="-120"/>
              </a:rPr>
              <a:t>λ is a Lagrange multiplier — a price paid for violating the constraint</a:t>
            </a:r>
            <a:endParaRPr lang="en-US" sz="1600" dirty="0"/>
          </a:p>
          <a:p>
            <a:pPr marL="342900" indent="-342900">
              <a:lnSpc>
                <a:spcPct val="135000"/>
              </a:lnSpc>
              <a:spcAft>
                <a:spcPts val="1000"/>
              </a:spcAft>
              <a:buSzPct val="100000"/>
              <a:buChar char="•"/>
            </a:pPr>
            <a:r>
              <a:rPr lang="en-US" sz="1600" dirty="0">
                <a:solidFill>
                  <a:srgbClr val="3A3A3A"/>
                </a:solidFill>
                <a:latin typeface="Calibri" pitchFamily="34" charset="0"/>
                <a:ea typeface="Calibri" pitchFamily="34" charset="-122"/>
                <a:cs typeface="Calibri" pitchFamily="34" charset="-120"/>
              </a:rPr>
              <a:t>λ ≥ 0: the constraint can only be penalized, never rewarded</a:t>
            </a:r>
            <a:endParaRPr lang="en-US" sz="1600" dirty="0"/>
          </a:p>
          <a:p>
            <a:pPr marL="342900" indent="-342900">
              <a:lnSpc>
                <a:spcPct val="135000"/>
              </a:lnSpc>
              <a:spcAft>
                <a:spcPts val="1000"/>
              </a:spcAft>
              <a:buSzPct val="100000"/>
              <a:buChar char="•"/>
            </a:pPr>
            <a:r>
              <a:rPr lang="en-US" sz="1600" dirty="0">
                <a:solidFill>
                  <a:srgbClr val="3A3A3A"/>
                </a:solidFill>
                <a:latin typeface="Calibri" pitchFamily="34" charset="0"/>
                <a:ea typeface="Calibri" pitchFamily="34" charset="-122"/>
                <a:cs typeface="Calibri" pitchFamily="34" charset="-120"/>
              </a:rPr>
              <a:t>Physical picture: a ball rolling downhill, stopped by a wall — λ is exactly how hard the wall pushes back to hold it in place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STEP 2</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Primal vs. dual: two questions, one answer</a:t>
            </a:r>
            <a:endParaRPr lang="en-US" sz="3000" dirty="0"/>
          </a:p>
        </p:txBody>
      </p:sp>
      <p:sp>
        <p:nvSpPr>
          <p:cNvPr id="4" name="Shape 2"/>
          <p:cNvSpPr/>
          <p:nvPr/>
        </p:nvSpPr>
        <p:spPr>
          <a:xfrm>
            <a:off x="548640" y="1691640"/>
            <a:ext cx="5212080" cy="4023360"/>
          </a:xfrm>
          <a:prstGeom prst="roundRect">
            <a:avLst>
              <a:gd name="adj" fmla="val 2273"/>
            </a:avLst>
          </a:prstGeom>
          <a:solidFill>
            <a:srgbClr val="F2F4FA"/>
          </a:solidFill>
          <a:ln w="12700">
            <a:solidFill>
              <a:srgbClr val="1E2761"/>
            </a:solidFill>
            <a:prstDash val="solid"/>
          </a:ln>
        </p:spPr>
      </p:sp>
      <p:sp>
        <p:nvSpPr>
          <p:cNvPr id="5" name="Text 3"/>
          <p:cNvSpPr/>
          <p:nvPr/>
        </p:nvSpPr>
        <p:spPr>
          <a:xfrm>
            <a:off x="868680" y="1965960"/>
            <a:ext cx="4572000" cy="365760"/>
          </a:xfrm>
          <a:prstGeom prst="rect">
            <a:avLst/>
          </a:prstGeom>
          <a:noFill/>
          <a:ln/>
        </p:spPr>
        <p:txBody>
          <a:bodyPr wrap="square" lIns="0" tIns="0" rIns="0" bIns="0" rtlCol="0" anchor="ctr"/>
          <a:lstStyle/>
          <a:p>
            <a:pPr indent="0" marL="0">
              <a:buNone/>
            </a:pPr>
            <a:r>
              <a:rPr lang="en-US" sz="1300" b="1" spc="200" kern="0" dirty="0">
                <a:solidFill>
                  <a:srgbClr val="C9922E"/>
                </a:solidFill>
                <a:latin typeface="Calibri" pitchFamily="34" charset="0"/>
                <a:ea typeface="Calibri" pitchFamily="34" charset="-122"/>
                <a:cs typeface="Calibri" pitchFamily="34" charset="-120"/>
              </a:rPr>
              <a:t>PRIMAL</a:t>
            </a:r>
            <a:endParaRPr lang="en-US" sz="1300" dirty="0"/>
          </a:p>
        </p:txBody>
      </p:sp>
      <p:sp>
        <p:nvSpPr>
          <p:cNvPr id="6" name="Text 4"/>
          <p:cNvSpPr/>
          <p:nvPr/>
        </p:nvSpPr>
        <p:spPr>
          <a:xfrm>
            <a:off x="868680" y="2377440"/>
            <a:ext cx="4572000" cy="822960"/>
          </a:xfrm>
          <a:prstGeom prst="rect">
            <a:avLst/>
          </a:prstGeom>
          <a:noFill/>
          <a:ln/>
        </p:spPr>
        <p:txBody>
          <a:bodyPr wrap="square" lIns="0" tIns="0" rIns="0" bIns="0"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“Where does the ball actually rest?”</a:t>
            </a:r>
            <a:endParaRPr lang="en-US" sz="1800" dirty="0"/>
          </a:p>
        </p:txBody>
      </p:sp>
      <p:sp>
        <p:nvSpPr>
          <p:cNvPr id="7" name="Text 5"/>
          <p:cNvSpPr/>
          <p:nvPr/>
        </p:nvSpPr>
        <p:spPr>
          <a:xfrm>
            <a:off x="868680" y="3291840"/>
            <a:ext cx="4572000" cy="82296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minₓ f(x)</a:t>
            </a:r>
            <a:endParaRPr lang="en-US" sz="1800" dirty="0"/>
          </a:p>
          <a:p>
            <a:pPr indent="0" marL="0">
              <a:buNone/>
            </a:pPr>
            <a:r>
              <a:rPr lang="en-US" sz="1800" b="1" dirty="0">
                <a:solidFill>
                  <a:srgbClr val="1E2761"/>
                </a:solidFill>
                <a:latin typeface="Calibri" pitchFamily="34" charset="0"/>
                <a:ea typeface="Calibri" pitchFamily="34" charset="-122"/>
                <a:cs typeface="Calibri" pitchFamily="34" charset="-120"/>
              </a:rPr>
              <a:t>s.t. h(x) ≤ 0</a:t>
            </a:r>
            <a:endParaRPr lang="en-US" sz="1800" dirty="0"/>
          </a:p>
        </p:txBody>
      </p:sp>
      <p:sp>
        <p:nvSpPr>
          <p:cNvPr id="8" name="Text 6"/>
          <p:cNvSpPr/>
          <p:nvPr/>
        </p:nvSpPr>
        <p:spPr>
          <a:xfrm>
            <a:off x="868680" y="4343400"/>
            <a:ext cx="4572000" cy="1097280"/>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Solve for x directly, respecting the wall.</a:t>
            </a:r>
            <a:endParaRPr lang="en-US" sz="1400" dirty="0"/>
          </a:p>
        </p:txBody>
      </p:sp>
      <p:sp>
        <p:nvSpPr>
          <p:cNvPr id="9" name="Shape 7"/>
          <p:cNvSpPr/>
          <p:nvPr/>
        </p:nvSpPr>
        <p:spPr>
          <a:xfrm>
            <a:off x="6400800" y="1691640"/>
            <a:ext cx="5212080" cy="4023360"/>
          </a:xfrm>
          <a:prstGeom prst="roundRect">
            <a:avLst>
              <a:gd name="adj" fmla="val 2273"/>
            </a:avLst>
          </a:prstGeom>
          <a:solidFill>
            <a:srgbClr val="1E2761"/>
          </a:solidFill>
          <a:ln/>
        </p:spPr>
      </p:sp>
      <p:sp>
        <p:nvSpPr>
          <p:cNvPr id="10" name="Text 8"/>
          <p:cNvSpPr/>
          <p:nvPr/>
        </p:nvSpPr>
        <p:spPr>
          <a:xfrm>
            <a:off x="6720840" y="1965960"/>
            <a:ext cx="4572000" cy="365760"/>
          </a:xfrm>
          <a:prstGeom prst="rect">
            <a:avLst/>
          </a:prstGeom>
          <a:noFill/>
          <a:ln/>
        </p:spPr>
        <p:txBody>
          <a:bodyPr wrap="square" lIns="0" tIns="0" rIns="0" bIns="0" rtlCol="0" anchor="ctr"/>
          <a:lstStyle/>
          <a:p>
            <a:pPr indent="0" marL="0">
              <a:buNone/>
            </a:pPr>
            <a:r>
              <a:rPr lang="en-US" sz="1300" b="1" spc="200" kern="0" dirty="0">
                <a:solidFill>
                  <a:srgbClr val="C9922E"/>
                </a:solidFill>
                <a:latin typeface="Calibri" pitchFamily="34" charset="0"/>
                <a:ea typeface="Calibri" pitchFamily="34" charset="-122"/>
                <a:cs typeface="Calibri" pitchFamily="34" charset="-120"/>
              </a:rPr>
              <a:t>DUAL</a:t>
            </a:r>
            <a:endParaRPr lang="en-US" sz="1300" dirty="0"/>
          </a:p>
        </p:txBody>
      </p:sp>
      <p:sp>
        <p:nvSpPr>
          <p:cNvPr id="11" name="Text 9"/>
          <p:cNvSpPr/>
          <p:nvPr/>
        </p:nvSpPr>
        <p:spPr>
          <a:xfrm>
            <a:off x="6720840" y="2377440"/>
            <a:ext cx="4572000" cy="82296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“How strong must the wall push — and what does that tell us?”</a:t>
            </a:r>
            <a:endParaRPr lang="en-US" sz="1800" dirty="0"/>
          </a:p>
        </p:txBody>
      </p:sp>
      <p:sp>
        <p:nvSpPr>
          <p:cNvPr id="12" name="Text 10"/>
          <p:cNvSpPr/>
          <p:nvPr/>
        </p:nvSpPr>
        <p:spPr>
          <a:xfrm>
            <a:off x="6720840" y="3291840"/>
            <a:ext cx="4572000" cy="8229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g(λ) = minₓ ℒ(x,λ)</a:t>
            </a:r>
            <a:endParaRPr lang="en-US" sz="1800" dirty="0"/>
          </a:p>
          <a:p>
            <a:pPr indent="0" marL="0">
              <a:buNone/>
            </a:pPr>
            <a:r>
              <a:rPr lang="en-US" sz="1800" b="1" dirty="0">
                <a:solidFill>
                  <a:srgbClr val="FFFFFF"/>
                </a:solidFill>
                <a:latin typeface="Calibri" pitchFamily="34" charset="0"/>
                <a:ea typeface="Calibri" pitchFamily="34" charset="-122"/>
                <a:cs typeface="Calibri" pitchFamily="34" charset="-120"/>
              </a:rPr>
              <a:t>max over λ ≥ 0</a:t>
            </a:r>
            <a:endParaRPr lang="en-US" sz="1800" dirty="0"/>
          </a:p>
        </p:txBody>
      </p:sp>
      <p:sp>
        <p:nvSpPr>
          <p:cNvPr id="13" name="Text 11"/>
          <p:cNvSpPr/>
          <p:nvPr/>
        </p:nvSpPr>
        <p:spPr>
          <a:xfrm>
            <a:off x="6720840" y="4343400"/>
            <a:ext cx="4572000" cy="109728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Fix the force, solve away x, then find the best force.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STEP 3</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Weak duality: always true, no exceptions</a:t>
            </a:r>
            <a:endParaRPr lang="en-US" sz="3000" dirty="0"/>
          </a:p>
        </p:txBody>
      </p:sp>
      <p:sp>
        <p:nvSpPr>
          <p:cNvPr id="4" name="Shape 2"/>
          <p:cNvSpPr/>
          <p:nvPr/>
        </p:nvSpPr>
        <p:spPr>
          <a:xfrm>
            <a:off x="548640" y="1600200"/>
            <a:ext cx="11064240" cy="914400"/>
          </a:xfrm>
          <a:prstGeom prst="roundRect">
            <a:avLst>
              <a:gd name="adj" fmla="val 8000"/>
            </a:avLst>
          </a:prstGeom>
          <a:solidFill>
            <a:srgbClr val="F2F4FA"/>
          </a:solidFill>
          <a:ln/>
        </p:spPr>
      </p:sp>
      <p:sp>
        <p:nvSpPr>
          <p:cNvPr id="5" name="Text 3"/>
          <p:cNvSpPr/>
          <p:nvPr/>
        </p:nvSpPr>
        <p:spPr>
          <a:xfrm>
            <a:off x="822960" y="1600200"/>
            <a:ext cx="10515600" cy="914400"/>
          </a:xfrm>
          <a:prstGeom prst="rect">
            <a:avLst/>
          </a:prstGeom>
          <a:noFill/>
          <a:ln/>
        </p:spPr>
        <p:txBody>
          <a:bodyPr wrap="square" lIns="0" tIns="0" rIns="0" bIns="0"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g(λ)  ≤  f(x*)     for every λ ≥ 0</a:t>
            </a:r>
            <a:endParaRPr lang="en-US" sz="2200" dirty="0"/>
          </a:p>
        </p:txBody>
      </p:sp>
      <p:sp>
        <p:nvSpPr>
          <p:cNvPr id="6" name="Text 4"/>
          <p:cNvSpPr/>
          <p:nvPr/>
        </p:nvSpPr>
        <p:spPr>
          <a:xfrm>
            <a:off x="548640" y="2743200"/>
            <a:ext cx="110642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Proof, one line at a time:</a:t>
            </a:r>
            <a:endParaRPr lang="en-US" sz="1500" dirty="0"/>
          </a:p>
        </p:txBody>
      </p:sp>
      <p:sp>
        <p:nvSpPr>
          <p:cNvPr id="7" name="Text 5"/>
          <p:cNvSpPr/>
          <p:nvPr/>
        </p:nvSpPr>
        <p:spPr>
          <a:xfrm>
            <a:off x="548640" y="3200400"/>
            <a:ext cx="11064240" cy="1645920"/>
          </a:xfrm>
          <a:prstGeom prst="rect">
            <a:avLst/>
          </a:prstGeom>
          <a:noFill/>
          <a:ln/>
        </p:spPr>
        <p:txBody>
          <a:bodyPr wrap="square" lIns="0" tIns="0" rIns="0" bIns="0" rtlCol="0" anchor="ctr"/>
          <a:lstStyle/>
          <a:p>
            <a:pPr marL="342900" indent="-342900">
              <a:lnSpc>
                <a:spcPct val="130000"/>
              </a:lnSpc>
              <a:spcAft>
                <a:spcPts val="800"/>
              </a:spcAft>
              <a:buSzPct val="100000"/>
              <a:buChar char="•"/>
            </a:pPr>
            <a:r>
              <a:rPr lang="en-US" sz="1500" dirty="0">
                <a:solidFill>
                  <a:srgbClr val="3A3A3A"/>
                </a:solidFill>
                <a:latin typeface="Calibri" pitchFamily="34" charset="0"/>
                <a:ea typeface="Calibri" pitchFamily="34" charset="-122"/>
                <a:cs typeface="Calibri" pitchFamily="34" charset="-120"/>
              </a:rPr>
              <a:t>ℒ(x*,λ) = f(x*) + λ h(x*) ≤ f(x*)   since λ ≥ 0 and h(x*) ≤ 0</a:t>
            </a:r>
            <a:endParaRPr lang="en-US" sz="1500" dirty="0"/>
          </a:p>
          <a:p>
            <a:pPr marL="342900" indent="-342900">
              <a:lnSpc>
                <a:spcPct val="130000"/>
              </a:lnSpc>
              <a:spcAft>
                <a:spcPts val="800"/>
              </a:spcAft>
              <a:buSzPct val="100000"/>
              <a:buChar char="•"/>
            </a:pPr>
            <a:r>
              <a:rPr lang="en-US" sz="1500" dirty="0">
                <a:solidFill>
                  <a:srgbClr val="3A3A3A"/>
                </a:solidFill>
                <a:latin typeface="Calibri" pitchFamily="34" charset="0"/>
                <a:ea typeface="Calibri" pitchFamily="34" charset="-122"/>
                <a:cs typeface="Calibri" pitchFamily="34" charset="-120"/>
              </a:rPr>
              <a:t>g(λ) = minₓ ℒ(x,λ) ≤ ℒ(x*,λ) ≤ f(x*)</a:t>
            </a:r>
            <a:endParaRPr lang="en-US" sz="1500" dirty="0"/>
          </a:p>
          <a:p>
            <a:pPr marL="342900" indent="-342900">
              <a:lnSpc>
                <a:spcPct val="130000"/>
              </a:lnSpc>
              <a:spcAft>
                <a:spcPts val="800"/>
              </a:spcAft>
              <a:buSzPct val="100000"/>
              <a:buChar char="•"/>
            </a:pPr>
            <a:r>
              <a:rPr lang="en-US" sz="1500" dirty="0">
                <a:solidFill>
                  <a:srgbClr val="3A3A3A"/>
                </a:solidFill>
                <a:latin typeface="Calibri" pitchFamily="34" charset="0"/>
                <a:ea typeface="Calibri" pitchFamily="34" charset="-122"/>
                <a:cs typeface="Calibri" pitchFamily="34" charset="-120"/>
              </a:rPr>
              <a:t>So the dual function is always a lower bound on the true primal optimum — true for every problem, convex or not</a:t>
            </a:r>
            <a:endParaRPr lang="en-US" sz="1500" dirty="0"/>
          </a:p>
        </p:txBody>
      </p:sp>
      <p:sp>
        <p:nvSpPr>
          <p:cNvPr id="8" name="Shape 6"/>
          <p:cNvSpPr/>
          <p:nvPr/>
        </p:nvSpPr>
        <p:spPr>
          <a:xfrm>
            <a:off x="548640" y="5212080"/>
            <a:ext cx="11064240" cy="777240"/>
          </a:xfrm>
          <a:prstGeom prst="roundRect">
            <a:avLst>
              <a:gd name="adj" fmla="val 9412"/>
            </a:avLst>
          </a:prstGeom>
          <a:solidFill>
            <a:srgbClr val="1E2761"/>
          </a:solidFill>
          <a:ln/>
        </p:spPr>
      </p:sp>
      <p:sp>
        <p:nvSpPr>
          <p:cNvPr id="9" name="Text 7"/>
          <p:cNvSpPr/>
          <p:nvPr/>
        </p:nvSpPr>
        <p:spPr>
          <a:xfrm>
            <a:off x="822960" y="5212080"/>
            <a:ext cx="10515600"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Duality gap  =  f(x*) − g(λ*)  ≥  0</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STEP 4</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Strong duality: when the gap closes to zero</a:t>
            </a:r>
            <a:endParaRPr lang="en-US" sz="3000" dirty="0"/>
          </a:p>
        </p:txBody>
      </p:sp>
      <p:sp>
        <p:nvSpPr>
          <p:cNvPr id="4" name="Text 2"/>
          <p:cNvSpPr/>
          <p:nvPr/>
        </p:nvSpPr>
        <p:spPr>
          <a:xfrm>
            <a:off x="548640" y="1691640"/>
            <a:ext cx="11064240" cy="2743200"/>
          </a:xfrm>
          <a:prstGeom prst="rect">
            <a:avLst/>
          </a:prstGeom>
          <a:noFill/>
          <a:ln/>
        </p:spPr>
        <p:txBody>
          <a:bodyPr wrap="square" lIns="0" tIns="0" rIns="0" bIns="0" rtlCol="0" anchor="ctr"/>
          <a:lstStyle/>
          <a:p>
            <a:pPr marL="342900" indent="-342900">
              <a:lnSpc>
                <a:spcPct val="140000"/>
              </a:lnSpc>
              <a:spcAft>
                <a:spcPts val="1200"/>
              </a:spcAft>
              <a:buSzPct val="100000"/>
              <a:buChar char="•"/>
            </a:pPr>
            <a:r>
              <a:rPr lang="en-US" sz="1700" dirty="0">
                <a:solidFill>
                  <a:srgbClr val="3A3A3A"/>
                </a:solidFill>
                <a:latin typeface="Calibri" pitchFamily="34" charset="0"/>
                <a:ea typeface="Calibri" pitchFamily="34" charset="-122"/>
                <a:cs typeface="Calibri" pitchFamily="34" charset="-120"/>
              </a:rPr>
              <a:t>Requires the problem to be convex — convex objective, convex feasible region</a:t>
            </a:r>
            <a:endParaRPr lang="en-US" sz="1700" dirty="0"/>
          </a:p>
          <a:p>
            <a:pPr marL="342900" indent="-342900">
              <a:lnSpc>
                <a:spcPct val="140000"/>
              </a:lnSpc>
              <a:spcAft>
                <a:spcPts val="1200"/>
              </a:spcAft>
              <a:buSzPct val="100000"/>
              <a:buChar char="•"/>
            </a:pPr>
            <a:r>
              <a:rPr lang="en-US" sz="1700" dirty="0">
                <a:solidFill>
                  <a:srgbClr val="3A3A3A"/>
                </a:solidFill>
                <a:latin typeface="Calibri" pitchFamily="34" charset="0"/>
                <a:ea typeface="Calibri" pitchFamily="34" charset="-122"/>
                <a:cs typeface="Calibri" pitchFamily="34" charset="-120"/>
              </a:rPr>
              <a:t>Plus Slater's condition: some point satisfies the constraint strictly (h(x) &lt; 0), not just on the boundary</a:t>
            </a:r>
            <a:endParaRPr lang="en-US" sz="1700" dirty="0"/>
          </a:p>
          <a:p>
            <a:pPr marL="342900" indent="-342900">
              <a:lnSpc>
                <a:spcPct val="140000"/>
              </a:lnSpc>
              <a:spcAft>
                <a:spcPts val="1200"/>
              </a:spcAft>
              <a:buSzPct val="100000"/>
              <a:buChar char="•"/>
            </a:pPr>
            <a:r>
              <a:rPr lang="en-US" sz="1700" dirty="0">
                <a:solidFill>
                  <a:srgbClr val="3A3A3A"/>
                </a:solidFill>
                <a:latin typeface="Calibri" pitchFamily="34" charset="0"/>
                <a:ea typeface="Calibri" pitchFamily="34" charset="-122"/>
                <a:cs typeface="Calibri" pitchFamily="34" charset="-120"/>
              </a:rPr>
              <a:t>Result: g(λ*) = f(x*) exactly — zero duality gap</a:t>
            </a:r>
            <a:endParaRPr lang="en-US" sz="1700" dirty="0"/>
          </a:p>
          <a:p>
            <a:pPr marL="342900" indent="-342900">
              <a:lnSpc>
                <a:spcPct val="140000"/>
              </a:lnSpc>
              <a:spcAft>
                <a:spcPts val="1200"/>
              </a:spcAft>
              <a:buSzPct val="100000"/>
              <a:buChar char="•"/>
            </a:pPr>
            <a:r>
              <a:rPr lang="en-US" sz="1700" dirty="0">
                <a:solidFill>
                  <a:srgbClr val="3A3A3A"/>
                </a:solidFill>
                <a:latin typeface="Calibri" pitchFamily="34" charset="0"/>
                <a:ea typeface="Calibri" pitchFamily="34" charset="-122"/>
                <a:cs typeface="Calibri" pitchFamily="34" charset="-120"/>
              </a:rPr>
              <a:t>For SVM and Markowitz, both convex with realistic data, Slater's condition holds essentially for free</a:t>
            </a:r>
            <a:endParaRPr lang="en-US" sz="1700" dirty="0"/>
          </a:p>
        </p:txBody>
      </p:sp>
      <p:sp>
        <p:nvSpPr>
          <p:cNvPr id="5" name="Shape 3"/>
          <p:cNvSpPr/>
          <p:nvPr/>
        </p:nvSpPr>
        <p:spPr>
          <a:xfrm>
            <a:off x="548640" y="4754880"/>
            <a:ext cx="11064240" cy="1188720"/>
          </a:xfrm>
          <a:prstGeom prst="roundRect">
            <a:avLst>
              <a:gd name="adj" fmla="val 6154"/>
            </a:avLst>
          </a:prstGeom>
          <a:solidFill>
            <a:srgbClr val="F2F4FA"/>
          </a:solidFill>
          <a:ln/>
        </p:spPr>
      </p:sp>
      <p:sp>
        <p:nvSpPr>
          <p:cNvPr id="6" name="Text 4"/>
          <p:cNvSpPr/>
          <p:nvPr/>
        </p:nvSpPr>
        <p:spPr>
          <a:xfrm>
            <a:off x="868680" y="4754880"/>
            <a:ext cx="10424160" cy="1188720"/>
          </a:xfrm>
          <a:prstGeom prst="rect">
            <a:avLst/>
          </a:prstGeom>
          <a:noFill/>
          <a:ln/>
        </p:spPr>
        <p:txBody>
          <a:bodyPr wrap="square" lIns="0" tIns="0" rIns="0" bIns="0"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Why it matters: if strong duality holds, solving the dual is a fully legitimate substitute for solving the primal — same optimal value, guaranteed.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STEP 5</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Worked example: verifying strong duality numerically</a:t>
            </a:r>
            <a:endParaRPr lang="en-US" sz="3000" dirty="0"/>
          </a:p>
        </p:txBody>
      </p:sp>
      <p:sp>
        <p:nvSpPr>
          <p:cNvPr id="4" name="Shape 2"/>
          <p:cNvSpPr/>
          <p:nvPr/>
        </p:nvSpPr>
        <p:spPr>
          <a:xfrm>
            <a:off x="548640" y="1737360"/>
            <a:ext cx="5212080" cy="3108960"/>
          </a:xfrm>
          <a:prstGeom prst="roundRect">
            <a:avLst>
              <a:gd name="adj" fmla="val 2941"/>
            </a:avLst>
          </a:prstGeom>
          <a:solidFill>
            <a:srgbClr val="F2F4FA"/>
          </a:solidFill>
          <a:ln/>
        </p:spPr>
      </p:sp>
      <p:sp>
        <p:nvSpPr>
          <p:cNvPr id="5" name="Text 3"/>
          <p:cNvSpPr/>
          <p:nvPr/>
        </p:nvSpPr>
        <p:spPr>
          <a:xfrm>
            <a:off x="868680" y="1965960"/>
            <a:ext cx="4572000" cy="365760"/>
          </a:xfrm>
          <a:prstGeom prst="rect">
            <a:avLst/>
          </a:prstGeom>
          <a:noFill/>
          <a:ln/>
        </p:spPr>
        <p:txBody>
          <a:bodyPr wrap="square" lIns="0" tIns="0" rIns="0" bIns="0" rtlCol="0" anchor="ctr"/>
          <a:lstStyle/>
          <a:p>
            <a:pPr indent="0" marL="0">
              <a:buNone/>
            </a:pPr>
            <a:r>
              <a:rPr lang="en-US" sz="1400" b="1" spc="100" kern="0" dirty="0">
                <a:solidFill>
                  <a:srgbClr val="C9922E"/>
                </a:solidFill>
                <a:latin typeface="Calibri" pitchFamily="34" charset="0"/>
                <a:ea typeface="Calibri" pitchFamily="34" charset="-122"/>
                <a:cs typeface="Calibri" pitchFamily="34" charset="-120"/>
              </a:rPr>
              <a:t>Primal</a:t>
            </a:r>
            <a:endParaRPr lang="en-US" sz="1400" dirty="0"/>
          </a:p>
        </p:txBody>
      </p:sp>
      <p:sp>
        <p:nvSpPr>
          <p:cNvPr id="6" name="Text 4"/>
          <p:cNvSpPr/>
          <p:nvPr/>
        </p:nvSpPr>
        <p:spPr>
          <a:xfrm>
            <a:off x="868680" y="2377440"/>
            <a:ext cx="45720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min x²  s.t.  x ≥ 1</a:t>
            </a:r>
            <a:endParaRPr lang="en-US" sz="1700" dirty="0"/>
          </a:p>
        </p:txBody>
      </p:sp>
      <p:sp>
        <p:nvSpPr>
          <p:cNvPr id="7" name="Text 5"/>
          <p:cNvSpPr/>
          <p:nvPr/>
        </p:nvSpPr>
        <p:spPr>
          <a:xfrm>
            <a:off x="868680" y="3017520"/>
            <a:ext cx="4572000" cy="146304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x* = 1</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f(x*) = 1</a:t>
            </a:r>
            <a:endParaRPr lang="en-US" sz="2000" dirty="0"/>
          </a:p>
        </p:txBody>
      </p:sp>
      <p:sp>
        <p:nvSpPr>
          <p:cNvPr id="8" name="Shape 6"/>
          <p:cNvSpPr/>
          <p:nvPr/>
        </p:nvSpPr>
        <p:spPr>
          <a:xfrm>
            <a:off x="6400800" y="1737360"/>
            <a:ext cx="5212080" cy="3108960"/>
          </a:xfrm>
          <a:prstGeom prst="roundRect">
            <a:avLst>
              <a:gd name="adj" fmla="val 2941"/>
            </a:avLst>
          </a:prstGeom>
          <a:solidFill>
            <a:srgbClr val="F2F4FA"/>
          </a:solidFill>
          <a:ln/>
        </p:spPr>
      </p:sp>
      <p:sp>
        <p:nvSpPr>
          <p:cNvPr id="9" name="Text 7"/>
          <p:cNvSpPr/>
          <p:nvPr/>
        </p:nvSpPr>
        <p:spPr>
          <a:xfrm>
            <a:off x="6720840" y="1965960"/>
            <a:ext cx="4572000" cy="365760"/>
          </a:xfrm>
          <a:prstGeom prst="rect">
            <a:avLst/>
          </a:prstGeom>
          <a:noFill/>
          <a:ln/>
        </p:spPr>
        <p:txBody>
          <a:bodyPr wrap="square" lIns="0" tIns="0" rIns="0" bIns="0" rtlCol="0" anchor="ctr"/>
          <a:lstStyle/>
          <a:p>
            <a:pPr indent="0" marL="0">
              <a:buNone/>
            </a:pPr>
            <a:r>
              <a:rPr lang="en-US" sz="1400" b="1" spc="100" kern="0" dirty="0">
                <a:solidFill>
                  <a:srgbClr val="C9922E"/>
                </a:solidFill>
                <a:latin typeface="Calibri" pitchFamily="34" charset="0"/>
                <a:ea typeface="Calibri" pitchFamily="34" charset="-122"/>
                <a:cs typeface="Calibri" pitchFamily="34" charset="-120"/>
              </a:rPr>
              <a:t>Dual</a:t>
            </a:r>
            <a:endParaRPr lang="en-US" sz="1400" dirty="0"/>
          </a:p>
        </p:txBody>
      </p:sp>
      <p:sp>
        <p:nvSpPr>
          <p:cNvPr id="10" name="Text 8"/>
          <p:cNvSpPr/>
          <p:nvPr/>
        </p:nvSpPr>
        <p:spPr>
          <a:xfrm>
            <a:off x="6720840" y="2377440"/>
            <a:ext cx="4572000" cy="45720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g(λ) = λ − λ²/4</a:t>
            </a:r>
            <a:endParaRPr lang="en-US" sz="1700" dirty="0"/>
          </a:p>
        </p:txBody>
      </p:sp>
      <p:sp>
        <p:nvSpPr>
          <p:cNvPr id="11" name="Text 9"/>
          <p:cNvSpPr/>
          <p:nvPr/>
        </p:nvSpPr>
        <p:spPr>
          <a:xfrm>
            <a:off x="6720840" y="3017520"/>
            <a:ext cx="4572000" cy="1463040"/>
          </a:xfrm>
          <a:prstGeom prst="rect">
            <a:avLst/>
          </a:prstGeom>
          <a:noFill/>
          <a:ln/>
        </p:spPr>
        <p:txBody>
          <a:bodyPr wrap="square" lIns="0" tIns="0" rIns="0" bIns="0" rtlCol="0" anchor="ctr"/>
          <a:lstStyle/>
          <a:p>
            <a:pPr indent="0" marL="0">
              <a:buNone/>
            </a:pPr>
            <a:r>
              <a:rPr lang="en-US" sz="2000" dirty="0">
                <a:solidFill>
                  <a:srgbClr val="1E2761"/>
                </a:solidFill>
                <a:latin typeface="Calibri" pitchFamily="34" charset="0"/>
                <a:ea typeface="Calibri" pitchFamily="34" charset="-122"/>
                <a:cs typeface="Calibri" pitchFamily="34" charset="-120"/>
              </a:rPr>
              <a:t>λ* = 2</a:t>
            </a:r>
            <a:endParaRPr lang="en-US" sz="2000" dirty="0"/>
          </a:p>
          <a:p>
            <a:pPr indent="0" marL="0">
              <a:buNone/>
            </a:pPr>
            <a:r>
              <a:rPr lang="en-US" sz="2000" dirty="0">
                <a:solidFill>
                  <a:srgbClr val="1E2761"/>
                </a:solidFill>
                <a:latin typeface="Calibri" pitchFamily="34" charset="0"/>
                <a:ea typeface="Calibri" pitchFamily="34" charset="-122"/>
                <a:cs typeface="Calibri" pitchFamily="34" charset="-120"/>
              </a:rPr>
              <a:t>g(λ*) = 1</a:t>
            </a:r>
            <a:endParaRPr lang="en-US" sz="2000" dirty="0"/>
          </a:p>
        </p:txBody>
      </p:sp>
      <p:sp>
        <p:nvSpPr>
          <p:cNvPr id="12" name="Shape 10"/>
          <p:cNvSpPr/>
          <p:nvPr/>
        </p:nvSpPr>
        <p:spPr>
          <a:xfrm>
            <a:off x="548640" y="5074920"/>
            <a:ext cx="11064240" cy="868680"/>
          </a:xfrm>
          <a:prstGeom prst="roundRect">
            <a:avLst>
              <a:gd name="adj" fmla="val 8421"/>
            </a:avLst>
          </a:prstGeom>
          <a:solidFill>
            <a:srgbClr val="1E2761"/>
          </a:solidFill>
          <a:ln/>
        </p:spPr>
      </p:sp>
      <p:sp>
        <p:nvSpPr>
          <p:cNvPr id="13" name="Text 11"/>
          <p:cNvSpPr/>
          <p:nvPr/>
        </p:nvSpPr>
        <p:spPr>
          <a:xfrm>
            <a:off x="822960" y="5074920"/>
            <a:ext cx="10515600" cy="8686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1  =  1   —   zero duality gap, confirmed numerically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STEP 6</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KKT: the four-part certificate of optimality</a:t>
            </a:r>
            <a:endParaRPr lang="en-US" sz="3000" dirty="0"/>
          </a:p>
        </p:txBody>
      </p:sp>
      <p:sp>
        <p:nvSpPr>
          <p:cNvPr id="4" name="Shape 2"/>
          <p:cNvSpPr/>
          <p:nvPr/>
        </p:nvSpPr>
        <p:spPr>
          <a:xfrm>
            <a:off x="548640" y="1691640"/>
            <a:ext cx="11064240" cy="960120"/>
          </a:xfrm>
          <a:prstGeom prst="roundRect">
            <a:avLst>
              <a:gd name="adj" fmla="val 7619"/>
            </a:avLst>
          </a:prstGeom>
          <a:solidFill>
            <a:srgbClr val="F2F4FA"/>
          </a:solidFill>
          <a:ln w="9525">
            <a:solidFill>
              <a:srgbClr val="E2E6F0"/>
            </a:solidFill>
            <a:prstDash val="solid"/>
          </a:ln>
        </p:spPr>
      </p:sp>
      <p:sp>
        <p:nvSpPr>
          <p:cNvPr id="5" name="Text 3"/>
          <p:cNvSpPr/>
          <p:nvPr/>
        </p:nvSpPr>
        <p:spPr>
          <a:xfrm>
            <a:off x="822960" y="1691640"/>
            <a:ext cx="2103120" cy="96012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∇ℒ = 0</a:t>
            </a:r>
            <a:endParaRPr lang="en-US" sz="1700" dirty="0"/>
          </a:p>
        </p:txBody>
      </p:sp>
      <p:sp>
        <p:nvSpPr>
          <p:cNvPr id="6" name="Text 4"/>
          <p:cNvSpPr/>
          <p:nvPr/>
        </p:nvSpPr>
        <p:spPr>
          <a:xfrm>
            <a:off x="3108960" y="1691640"/>
            <a:ext cx="2834640" cy="96012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Stationarity</a:t>
            </a:r>
            <a:endParaRPr lang="en-US" sz="1500" dirty="0"/>
          </a:p>
        </p:txBody>
      </p:sp>
      <p:sp>
        <p:nvSpPr>
          <p:cNvPr id="7" name="Text 5"/>
          <p:cNvSpPr/>
          <p:nvPr/>
        </p:nvSpPr>
        <p:spPr>
          <a:xfrm>
            <a:off x="6035040" y="1691640"/>
            <a:ext cx="5486400" cy="96012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Forces balance — no direction improves the Lagrangian</a:t>
            </a:r>
            <a:endParaRPr lang="en-US" sz="1350" dirty="0"/>
          </a:p>
        </p:txBody>
      </p:sp>
      <p:sp>
        <p:nvSpPr>
          <p:cNvPr id="8" name="Shape 6"/>
          <p:cNvSpPr/>
          <p:nvPr/>
        </p:nvSpPr>
        <p:spPr>
          <a:xfrm>
            <a:off x="548640" y="2761488"/>
            <a:ext cx="11064240" cy="960120"/>
          </a:xfrm>
          <a:prstGeom prst="roundRect">
            <a:avLst>
              <a:gd name="adj" fmla="val 7619"/>
            </a:avLst>
          </a:prstGeom>
          <a:solidFill>
            <a:srgbClr val="FFFFFF"/>
          </a:solidFill>
          <a:ln w="9525">
            <a:solidFill>
              <a:srgbClr val="E2E6F0"/>
            </a:solidFill>
            <a:prstDash val="solid"/>
          </a:ln>
        </p:spPr>
      </p:sp>
      <p:sp>
        <p:nvSpPr>
          <p:cNvPr id="9" name="Text 7"/>
          <p:cNvSpPr/>
          <p:nvPr/>
        </p:nvSpPr>
        <p:spPr>
          <a:xfrm>
            <a:off x="822960" y="2761488"/>
            <a:ext cx="2103120" cy="96012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h(x*) ≤ 0</a:t>
            </a:r>
            <a:endParaRPr lang="en-US" sz="1700" dirty="0"/>
          </a:p>
        </p:txBody>
      </p:sp>
      <p:sp>
        <p:nvSpPr>
          <p:cNvPr id="10" name="Text 8"/>
          <p:cNvSpPr/>
          <p:nvPr/>
        </p:nvSpPr>
        <p:spPr>
          <a:xfrm>
            <a:off x="3108960" y="2761488"/>
            <a:ext cx="2834640" cy="96012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Primal feasibility</a:t>
            </a:r>
            <a:endParaRPr lang="en-US" sz="1500" dirty="0"/>
          </a:p>
        </p:txBody>
      </p:sp>
      <p:sp>
        <p:nvSpPr>
          <p:cNvPr id="11" name="Text 9"/>
          <p:cNvSpPr/>
          <p:nvPr/>
        </p:nvSpPr>
        <p:spPr>
          <a:xfrm>
            <a:off x="6035040" y="2761488"/>
            <a:ext cx="5486400" cy="96012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The solution is legal — on the right side of the wall</a:t>
            </a:r>
            <a:endParaRPr lang="en-US" sz="1350" dirty="0"/>
          </a:p>
        </p:txBody>
      </p:sp>
      <p:sp>
        <p:nvSpPr>
          <p:cNvPr id="12" name="Shape 10"/>
          <p:cNvSpPr/>
          <p:nvPr/>
        </p:nvSpPr>
        <p:spPr>
          <a:xfrm>
            <a:off x="548640" y="3831336"/>
            <a:ext cx="11064240" cy="960120"/>
          </a:xfrm>
          <a:prstGeom prst="roundRect">
            <a:avLst>
              <a:gd name="adj" fmla="val 7619"/>
            </a:avLst>
          </a:prstGeom>
          <a:solidFill>
            <a:srgbClr val="F2F4FA"/>
          </a:solidFill>
          <a:ln w="9525">
            <a:solidFill>
              <a:srgbClr val="E2E6F0"/>
            </a:solidFill>
            <a:prstDash val="solid"/>
          </a:ln>
        </p:spPr>
      </p:sp>
      <p:sp>
        <p:nvSpPr>
          <p:cNvPr id="13" name="Text 11"/>
          <p:cNvSpPr/>
          <p:nvPr/>
        </p:nvSpPr>
        <p:spPr>
          <a:xfrm>
            <a:off x="822960" y="3831336"/>
            <a:ext cx="2103120" cy="96012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λ* ≥ 0</a:t>
            </a:r>
            <a:endParaRPr lang="en-US" sz="1700" dirty="0"/>
          </a:p>
        </p:txBody>
      </p:sp>
      <p:sp>
        <p:nvSpPr>
          <p:cNvPr id="14" name="Text 12"/>
          <p:cNvSpPr/>
          <p:nvPr/>
        </p:nvSpPr>
        <p:spPr>
          <a:xfrm>
            <a:off x="3108960" y="3831336"/>
            <a:ext cx="2834640" cy="96012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Dual feasibility</a:t>
            </a:r>
            <a:endParaRPr lang="en-US" sz="1500" dirty="0"/>
          </a:p>
        </p:txBody>
      </p:sp>
      <p:sp>
        <p:nvSpPr>
          <p:cNvPr id="15" name="Text 13"/>
          <p:cNvSpPr/>
          <p:nvPr/>
        </p:nvSpPr>
        <p:spPr>
          <a:xfrm>
            <a:off x="6035040" y="3831336"/>
            <a:ext cx="5486400" cy="96012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The wall can only push, never pull</a:t>
            </a:r>
            <a:endParaRPr lang="en-US" sz="1350" dirty="0"/>
          </a:p>
        </p:txBody>
      </p:sp>
      <p:sp>
        <p:nvSpPr>
          <p:cNvPr id="16" name="Shape 14"/>
          <p:cNvSpPr/>
          <p:nvPr/>
        </p:nvSpPr>
        <p:spPr>
          <a:xfrm>
            <a:off x="548640" y="4901184"/>
            <a:ext cx="11064240" cy="960120"/>
          </a:xfrm>
          <a:prstGeom prst="roundRect">
            <a:avLst>
              <a:gd name="adj" fmla="val 7619"/>
            </a:avLst>
          </a:prstGeom>
          <a:solidFill>
            <a:srgbClr val="FFFFFF"/>
          </a:solidFill>
          <a:ln w="9525">
            <a:solidFill>
              <a:srgbClr val="E2E6F0"/>
            </a:solidFill>
            <a:prstDash val="solid"/>
          </a:ln>
        </p:spPr>
      </p:sp>
      <p:sp>
        <p:nvSpPr>
          <p:cNvPr id="17" name="Text 15"/>
          <p:cNvSpPr/>
          <p:nvPr/>
        </p:nvSpPr>
        <p:spPr>
          <a:xfrm>
            <a:off x="822960" y="4901184"/>
            <a:ext cx="2103120" cy="96012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λ*h(x*) = 0</a:t>
            </a:r>
            <a:endParaRPr lang="en-US" sz="1700" dirty="0"/>
          </a:p>
        </p:txBody>
      </p:sp>
      <p:sp>
        <p:nvSpPr>
          <p:cNvPr id="18" name="Text 16"/>
          <p:cNvSpPr/>
          <p:nvPr/>
        </p:nvSpPr>
        <p:spPr>
          <a:xfrm>
            <a:off x="3108960" y="4901184"/>
            <a:ext cx="2834640" cy="96012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Complementary slackness</a:t>
            </a:r>
            <a:endParaRPr lang="en-US" sz="1500" dirty="0"/>
          </a:p>
        </p:txBody>
      </p:sp>
      <p:sp>
        <p:nvSpPr>
          <p:cNvPr id="19" name="Text 17"/>
          <p:cNvSpPr/>
          <p:nvPr/>
        </p:nvSpPr>
        <p:spPr>
          <a:xfrm>
            <a:off x="6035040" y="4901184"/>
            <a:ext cx="5486400" cy="96012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The wall pushes only where it's actually touched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BEYOND THE REQUIREMENT</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Going deeper: λ* as a shadow price</a:t>
            </a:r>
            <a:endParaRPr lang="en-US" sz="3000" dirty="0"/>
          </a:p>
        </p:txBody>
      </p:sp>
      <p:sp>
        <p:nvSpPr>
          <p:cNvPr id="4" name="Text 2"/>
          <p:cNvSpPr/>
          <p:nvPr/>
        </p:nvSpPr>
        <p:spPr>
          <a:xfrm>
            <a:off x="548640" y="1645920"/>
            <a:ext cx="11064240" cy="731520"/>
          </a:xfrm>
          <a:prstGeom prst="rect">
            <a:avLst/>
          </a:prstGeom>
          <a:noFill/>
          <a:ln/>
        </p:spPr>
        <p:txBody>
          <a:bodyPr wrap="square" lIns="0" tIns="0" rIns="0" bIns="0" rtlCol="0" anchor="ctr"/>
          <a:lstStyle/>
          <a:p>
            <a:pPr indent="0" marL="0">
              <a:buNone/>
            </a:pPr>
            <a:r>
              <a:rPr lang="en-US" sz="1800" i="1" dirty="0">
                <a:solidFill>
                  <a:srgbClr val="1E2761"/>
                </a:solidFill>
                <a:latin typeface="Calibri" pitchFamily="34" charset="0"/>
                <a:ea typeface="Calibri" pitchFamily="34" charset="-122"/>
                <a:cs typeface="Calibri" pitchFamily="34" charset="-120"/>
              </a:rPr>
              <a:t>λ* measures exactly how much the optimal cost changes per unit of constraint relaxation.</a:t>
            </a:r>
            <a:endParaRPr lang="en-US" sz="1800" dirty="0"/>
          </a:p>
        </p:txBody>
      </p:sp>
      <p:sp>
        <p:nvSpPr>
          <p:cNvPr id="5" name="Shape 3"/>
          <p:cNvSpPr/>
          <p:nvPr/>
        </p:nvSpPr>
        <p:spPr>
          <a:xfrm>
            <a:off x="548640" y="2514600"/>
            <a:ext cx="11064240" cy="1463040"/>
          </a:xfrm>
          <a:prstGeom prst="roundRect">
            <a:avLst>
              <a:gd name="adj" fmla="val 5000"/>
            </a:avLst>
          </a:prstGeom>
          <a:solidFill>
            <a:srgbClr val="F2F4FA"/>
          </a:solidFill>
          <a:ln/>
        </p:spPr>
      </p:sp>
      <p:sp>
        <p:nvSpPr>
          <p:cNvPr id="6" name="Text 4"/>
          <p:cNvSpPr/>
          <p:nvPr/>
        </p:nvSpPr>
        <p:spPr>
          <a:xfrm>
            <a:off x="868680" y="2514600"/>
            <a:ext cx="10424160" cy="1463040"/>
          </a:xfrm>
          <a:prstGeom prst="rect">
            <a:avLst/>
          </a:prstGeom>
          <a:noFill/>
          <a:ln/>
        </p:spPr>
        <p:txBody>
          <a:bodyPr wrap="square" lIns="0" tIns="0" rIns="0" bIns="0" rtlCol="0" anchor="ctr"/>
          <a:lstStyle/>
          <a:p>
            <a:pPr indent="0" marL="0">
              <a:lnSpc>
                <a:spcPct val="140000"/>
              </a:lnSpc>
              <a:buNone/>
            </a:pPr>
            <a:r>
              <a:rPr lang="en-US" sz="1700" dirty="0">
                <a:solidFill>
                  <a:srgbClr val="1E2761"/>
                </a:solidFill>
                <a:latin typeface="Calibri" pitchFamily="34" charset="0"/>
                <a:ea typeface="Calibri" pitchFamily="34" charset="-122"/>
                <a:cs typeface="Calibri" pitchFamily="34" charset="-120"/>
              </a:rPr>
              <a:t>Relax x ≥ 1 to x ≥ 1−ε  →  x*(ε) = 1−ε  →  f*(ε) = (1−ε)²</a:t>
            </a:r>
            <a:endParaRPr lang="en-US" sz="1700" dirty="0"/>
          </a:p>
          <a:p>
            <a:pPr indent="0" marL="0">
              <a:lnSpc>
                <a:spcPct val="140000"/>
              </a:lnSpc>
              <a:buNone/>
            </a:pPr>
            <a:r>
              <a:rPr lang="en-US" sz="1700" dirty="0">
                <a:solidFill>
                  <a:srgbClr val="1E2761"/>
                </a:solidFill>
                <a:latin typeface="Calibri" pitchFamily="34" charset="0"/>
                <a:ea typeface="Calibri" pitchFamily="34" charset="-122"/>
                <a:cs typeface="Calibri" pitchFamily="34" charset="-120"/>
              </a:rPr>
              <a:t> df*/dε |₀ = −2  =  −λ*</a:t>
            </a:r>
            <a:endParaRPr lang="en-US" sz="1700" dirty="0"/>
          </a:p>
        </p:txBody>
      </p:sp>
      <p:sp>
        <p:nvSpPr>
          <p:cNvPr id="7" name="Text 5"/>
          <p:cNvSpPr/>
          <p:nvPr/>
        </p:nvSpPr>
        <p:spPr>
          <a:xfrm>
            <a:off x="548640" y="4297680"/>
            <a:ext cx="11064240" cy="731520"/>
          </a:xfrm>
          <a:prstGeom prst="rect">
            <a:avLst/>
          </a:prstGeom>
          <a:noFill/>
          <a:ln/>
        </p:spPr>
        <p:txBody>
          <a:bodyPr wrap="square" lIns="0" tIns="0" rIns="0" bIns="0" rtlCol="0" anchor="ctr"/>
          <a:lstStyle/>
          <a:p>
            <a:pPr indent="0" marL="0">
              <a:buNone/>
            </a:pPr>
            <a:r>
              <a:rPr lang="en-US" sz="1600" b="1" dirty="0">
                <a:solidFill>
                  <a:srgbClr val="C9922E"/>
                </a:solidFill>
                <a:latin typeface="Calibri" pitchFamily="34" charset="0"/>
                <a:ea typeface="Calibri" pitchFamily="34" charset="-122"/>
                <a:cs typeface="Calibri" pitchFamily="34" charset="-120"/>
              </a:rPr>
              <a:t>Duality isn't just a solving trick — it's a sensitivity report built directly into the solution.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BEYOND THE REQUIREMENT</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Going deeper: geometry, and where duality breaks</a:t>
            </a:r>
            <a:endParaRPr lang="en-US" sz="3000" dirty="0"/>
          </a:p>
        </p:txBody>
      </p:sp>
      <p:sp>
        <p:nvSpPr>
          <p:cNvPr id="4" name="Shape 2"/>
          <p:cNvSpPr/>
          <p:nvPr/>
        </p:nvSpPr>
        <p:spPr>
          <a:xfrm>
            <a:off x="548640" y="1691640"/>
            <a:ext cx="5212080" cy="3931920"/>
          </a:xfrm>
          <a:prstGeom prst="roundRect">
            <a:avLst>
              <a:gd name="adj" fmla="val 2326"/>
            </a:avLst>
          </a:prstGeom>
          <a:solidFill>
            <a:srgbClr val="F2F4FA"/>
          </a:solidFill>
          <a:ln/>
        </p:spPr>
      </p:sp>
      <p:sp>
        <p:nvSpPr>
          <p:cNvPr id="5" name="Text 3"/>
          <p:cNvSpPr/>
          <p:nvPr/>
        </p:nvSpPr>
        <p:spPr>
          <a:xfrm>
            <a:off x="822960" y="1920240"/>
            <a:ext cx="4663440" cy="365760"/>
          </a:xfrm>
          <a:prstGeom prst="rect">
            <a:avLst/>
          </a:prstGeom>
          <a:noFill/>
          <a:ln/>
        </p:spPr>
        <p:txBody>
          <a:bodyPr wrap="square" lIns="0" tIns="0" rIns="0" bIns="0" rtlCol="0" anchor="ctr"/>
          <a:lstStyle/>
          <a:p>
            <a:pPr indent="0" marL="0">
              <a:buNone/>
            </a:pPr>
            <a:r>
              <a:rPr lang="en-US" sz="1400" b="1" dirty="0">
                <a:solidFill>
                  <a:srgbClr val="C9922E"/>
                </a:solidFill>
                <a:latin typeface="Calibri" pitchFamily="34" charset="0"/>
                <a:ea typeface="Calibri" pitchFamily="34" charset="-122"/>
                <a:cs typeface="Calibri" pitchFamily="34" charset="-120"/>
              </a:rPr>
              <a:t>Geometric view</a:t>
            </a:r>
            <a:endParaRPr lang="en-US" sz="1400" dirty="0"/>
          </a:p>
        </p:txBody>
      </p:sp>
      <p:sp>
        <p:nvSpPr>
          <p:cNvPr id="6" name="Text 4"/>
          <p:cNvSpPr/>
          <p:nvPr/>
        </p:nvSpPr>
        <p:spPr>
          <a:xfrm>
            <a:off x="822960" y="2331720"/>
            <a:ext cx="4663440" cy="1280160"/>
          </a:xfrm>
          <a:prstGeom prst="rect">
            <a:avLst/>
          </a:prstGeom>
          <a:noFill/>
          <a:ln/>
        </p:spPr>
        <p:txBody>
          <a:bodyPr wrap="square" lIns="0" tIns="0" rIns="0" bIns="0" rtlCol="0" anchor="ctr"/>
          <a:lstStyle/>
          <a:p>
            <a:pPr indent="0" marL="0">
              <a:buNone/>
            </a:pPr>
            <a:r>
              <a:rPr lang="en-US" sz="1400" dirty="0">
                <a:solidFill>
                  <a:srgbClr val="3A3A3A"/>
                </a:solidFill>
                <a:latin typeface="Calibri" pitchFamily="34" charset="0"/>
                <a:ea typeface="Calibri" pitchFamily="34" charset="-122"/>
                <a:cs typeface="Calibri" pitchFamily="34" charset="-120"/>
              </a:rPr>
              <a:t>Plot every x as a point (h(x), f(x)). The dual is the highest straight line that still stays under this whole region.</a:t>
            </a:r>
            <a:endParaRPr lang="en-US" sz="1400" dirty="0"/>
          </a:p>
        </p:txBody>
      </p:sp>
      <p:sp>
        <p:nvSpPr>
          <p:cNvPr id="7" name="Text 5"/>
          <p:cNvSpPr/>
          <p:nvPr/>
        </p:nvSpPr>
        <p:spPr>
          <a:xfrm>
            <a:off x="822960" y="3794760"/>
            <a:ext cx="4663440" cy="155448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If that region is convex, the best line touches it exactly at the true optimum — zero gap.</a:t>
            </a:r>
            <a:endParaRPr lang="en-US" sz="1400" dirty="0"/>
          </a:p>
        </p:txBody>
      </p:sp>
      <p:sp>
        <p:nvSpPr>
          <p:cNvPr id="8" name="Shape 6"/>
          <p:cNvSpPr/>
          <p:nvPr/>
        </p:nvSpPr>
        <p:spPr>
          <a:xfrm>
            <a:off x="6400800" y="1691640"/>
            <a:ext cx="5212080" cy="3931920"/>
          </a:xfrm>
          <a:prstGeom prst="roundRect">
            <a:avLst>
              <a:gd name="adj" fmla="val 2326"/>
            </a:avLst>
          </a:prstGeom>
          <a:solidFill>
            <a:srgbClr val="1E2761"/>
          </a:solidFill>
          <a:ln/>
        </p:spPr>
      </p:sp>
      <p:sp>
        <p:nvSpPr>
          <p:cNvPr id="9" name="Text 7"/>
          <p:cNvSpPr/>
          <p:nvPr/>
        </p:nvSpPr>
        <p:spPr>
          <a:xfrm>
            <a:off x="6675120" y="1920240"/>
            <a:ext cx="4663440" cy="365760"/>
          </a:xfrm>
          <a:prstGeom prst="rect">
            <a:avLst/>
          </a:prstGeom>
          <a:noFill/>
          <a:ln/>
        </p:spPr>
        <p:txBody>
          <a:bodyPr wrap="square" lIns="0" tIns="0" rIns="0" bIns="0" rtlCol="0" anchor="ctr"/>
          <a:lstStyle/>
          <a:p>
            <a:pPr indent="0" marL="0">
              <a:buNone/>
            </a:pPr>
            <a:r>
              <a:rPr lang="en-US" sz="1400" b="1" dirty="0">
                <a:solidFill>
                  <a:srgbClr val="C9922E"/>
                </a:solidFill>
                <a:latin typeface="Calibri" pitchFamily="34" charset="0"/>
                <a:ea typeface="Calibri" pitchFamily="34" charset="-122"/>
                <a:cs typeface="Calibri" pitchFamily="34" charset="-120"/>
              </a:rPr>
              <a:t>When it fails</a:t>
            </a:r>
            <a:endParaRPr lang="en-US" sz="1400" dirty="0"/>
          </a:p>
        </p:txBody>
      </p:sp>
      <p:sp>
        <p:nvSpPr>
          <p:cNvPr id="10" name="Text 8"/>
          <p:cNvSpPr/>
          <p:nvPr/>
        </p:nvSpPr>
        <p:spPr>
          <a:xfrm>
            <a:off x="6675120" y="2331720"/>
            <a:ext cx="4663440"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min −x²  s.t.  −1 ≤ x ≤ 1  (non-convex)</a:t>
            </a:r>
            <a:endParaRPr lang="en-US" sz="1450" dirty="0"/>
          </a:p>
        </p:txBody>
      </p:sp>
      <p:sp>
        <p:nvSpPr>
          <p:cNvPr id="11" name="Text 9"/>
          <p:cNvSpPr/>
          <p:nvPr/>
        </p:nvSpPr>
        <p:spPr>
          <a:xfrm>
            <a:off x="6675120" y="2880360"/>
            <a:ext cx="4663440" cy="11887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Primal optimum = −1, but the dual's best line sits strictly below −1 — a real, nonzero duality gap.</a:t>
            </a:r>
            <a:endParaRPr lang="en-US" sz="1400" dirty="0"/>
          </a:p>
        </p:txBody>
      </p:sp>
      <p:sp>
        <p:nvSpPr>
          <p:cNvPr id="12" name="Text 10"/>
          <p:cNvSpPr/>
          <p:nvPr/>
        </p:nvSpPr>
        <p:spPr>
          <a:xfrm>
            <a:off x="6675120" y="4343400"/>
            <a:ext cx="4663440" cy="100584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Convexity isn't a technicality — it's what makes the straight-line approximation exact.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CONNECTING FORWARD</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this leads: SVM and Markowitz</a:t>
            </a:r>
            <a:endParaRPr lang="en-US" sz="3000" dirty="0"/>
          </a:p>
        </p:txBody>
      </p:sp>
      <p:sp>
        <p:nvSpPr>
          <p:cNvPr id="4" name="Text 2"/>
          <p:cNvSpPr/>
          <p:nvPr/>
        </p:nvSpPr>
        <p:spPr>
          <a:xfrm>
            <a:off x="548640" y="1737360"/>
            <a:ext cx="11064240" cy="2926080"/>
          </a:xfrm>
          <a:prstGeom prst="rect">
            <a:avLst/>
          </a:prstGeom>
          <a:noFill/>
          <a:ln/>
        </p:spPr>
        <p:txBody>
          <a:bodyPr wrap="square" lIns="0" tIns="0" rIns="0" bIns="0" rtlCol="0" anchor="ctr"/>
          <a:lstStyle/>
          <a:p>
            <a:pPr marL="342900" indent="-342900">
              <a:lnSpc>
                <a:spcPct val="140000"/>
              </a:lnSpc>
              <a:spcAft>
                <a:spcPts val="1400"/>
              </a:spcAft>
              <a:buSzPct val="100000"/>
              <a:buChar char="•"/>
            </a:pPr>
            <a:r>
              <a:rPr lang="en-US" sz="1800" dirty="0">
                <a:solidFill>
                  <a:srgbClr val="3A3A3A"/>
                </a:solidFill>
                <a:latin typeface="Calibri" pitchFamily="34" charset="0"/>
                <a:ea typeface="Calibri" pitchFamily="34" charset="-122"/>
                <a:cs typeface="Calibri" pitchFamily="34" charset="-120"/>
              </a:rPr>
              <a:t>SVM dual: complementary slackness identifies support vectors directly — αᵢ &gt; 0 exactly when a point touches the margin</a:t>
            </a:r>
            <a:endParaRPr lang="en-US" sz="1800" dirty="0"/>
          </a:p>
          <a:p>
            <a:pPr marL="342900" indent="-342900">
              <a:lnSpc>
                <a:spcPct val="140000"/>
              </a:lnSpc>
              <a:spcAft>
                <a:spcPts val="1400"/>
              </a:spcAft>
              <a:buSzPct val="100000"/>
              <a:buChar char="•"/>
            </a:pPr>
            <a:r>
              <a:rPr lang="en-US" sz="1800" dirty="0">
                <a:solidFill>
                  <a:srgbClr val="3A3A3A"/>
                </a:solidFill>
                <a:latin typeface="Calibri" pitchFamily="34" charset="0"/>
                <a:ea typeface="Calibri" pitchFamily="34" charset="-122"/>
                <a:cs typeface="Calibri" pitchFamily="34" charset="-120"/>
              </a:rPr>
              <a:t>The SVM dual only ever needs dot products between data points — that's what makes the kernel trick possible</a:t>
            </a:r>
            <a:endParaRPr lang="en-US" sz="1800" dirty="0"/>
          </a:p>
          <a:p>
            <a:pPr marL="342900" indent="-342900">
              <a:lnSpc>
                <a:spcPct val="140000"/>
              </a:lnSpc>
              <a:spcAft>
                <a:spcPts val="1400"/>
              </a:spcAft>
              <a:buSzPct val="100000"/>
              <a:buChar char="•"/>
            </a:pPr>
            <a:r>
              <a:rPr lang="en-US" sz="1800" dirty="0">
                <a:solidFill>
                  <a:srgbClr val="3A3A3A"/>
                </a:solidFill>
                <a:latin typeface="Calibri" pitchFamily="34" charset="0"/>
                <a:ea typeface="Calibri" pitchFamily="34" charset="-122"/>
                <a:cs typeface="Calibri" pitchFamily="34" charset="-120"/>
              </a:rPr>
              <a:t>Markowitz: the same KKT machinery characterizes the efficient frontier and the risk/return trade-off</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320040"/>
          </a:xfrm>
          <a:prstGeom prst="rect">
            <a:avLst/>
          </a:prstGeom>
          <a:noFill/>
          <a:ln/>
        </p:spPr>
        <p:txBody>
          <a:bodyPr wrap="square" lIns="0" tIns="0" rIns="0" bIns="0" rtlCol="0" anchor="ctr"/>
          <a:lstStyle/>
          <a:p>
            <a:pPr indent="0" marL="0">
              <a:buNone/>
            </a:pPr>
            <a:r>
              <a:rPr lang="en-US" sz="1200" b="1" spc="200" kern="0" dirty="0">
                <a:solidFill>
                  <a:srgbClr val="C9922E"/>
                </a:solidFill>
                <a:latin typeface="Calibri" pitchFamily="34" charset="0"/>
                <a:ea typeface="Calibri" pitchFamily="34" charset="-122"/>
                <a:cs typeface="Calibri" pitchFamily="34" charset="-120"/>
              </a:rPr>
              <a:t>Q&amp;A PREP</a:t>
            </a:r>
            <a:endParaRPr lang="en-US" sz="1200" dirty="0"/>
          </a:p>
        </p:txBody>
      </p:sp>
      <p:sp>
        <p:nvSpPr>
          <p:cNvPr id="3" name="Text 1"/>
          <p:cNvSpPr/>
          <p:nvPr/>
        </p:nvSpPr>
        <p:spPr>
          <a:xfrm>
            <a:off x="548640" y="621792"/>
            <a:ext cx="110642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Anticipated questions</a:t>
            </a:r>
            <a:endParaRPr lang="en-US" sz="3000" dirty="0"/>
          </a:p>
        </p:txBody>
      </p:sp>
      <p:sp>
        <p:nvSpPr>
          <p:cNvPr id="4" name="Shape 2"/>
          <p:cNvSpPr/>
          <p:nvPr/>
        </p:nvSpPr>
        <p:spPr>
          <a:xfrm>
            <a:off x="548640" y="1737360"/>
            <a:ext cx="11064240" cy="1234440"/>
          </a:xfrm>
          <a:prstGeom prst="roundRect">
            <a:avLst>
              <a:gd name="adj" fmla="val 5926"/>
            </a:avLst>
          </a:prstGeom>
          <a:solidFill>
            <a:srgbClr val="F2F4FA"/>
          </a:solidFill>
          <a:ln w="9525">
            <a:solidFill>
              <a:srgbClr val="E2E6F0"/>
            </a:solidFill>
            <a:prstDash val="solid"/>
          </a:ln>
        </p:spPr>
      </p:sp>
      <p:sp>
        <p:nvSpPr>
          <p:cNvPr id="5" name="Text 3"/>
          <p:cNvSpPr/>
          <p:nvPr/>
        </p:nvSpPr>
        <p:spPr>
          <a:xfrm>
            <a:off x="777240" y="1847088"/>
            <a:ext cx="457200" cy="45720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Q</a:t>
            </a:r>
            <a:endParaRPr lang="en-US" sz="1500" dirty="0"/>
          </a:p>
        </p:txBody>
      </p:sp>
      <p:sp>
        <p:nvSpPr>
          <p:cNvPr id="6" name="Text 4"/>
          <p:cNvSpPr/>
          <p:nvPr/>
        </p:nvSpPr>
        <p:spPr>
          <a:xfrm>
            <a:off x="1188720" y="1828800"/>
            <a:ext cx="996696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Does strong duality always hold?</a:t>
            </a:r>
            <a:endParaRPr lang="en-US" sz="1500" dirty="0"/>
          </a:p>
        </p:txBody>
      </p:sp>
      <p:sp>
        <p:nvSpPr>
          <p:cNvPr id="7" name="Text 5"/>
          <p:cNvSpPr/>
          <p:nvPr/>
        </p:nvSpPr>
        <p:spPr>
          <a:xfrm>
            <a:off x="777240" y="2395728"/>
            <a:ext cx="457200" cy="45720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A</a:t>
            </a:r>
            <a:endParaRPr lang="en-US" sz="1500" dirty="0"/>
          </a:p>
        </p:txBody>
      </p:sp>
      <p:sp>
        <p:nvSpPr>
          <p:cNvPr id="8" name="Text 6"/>
          <p:cNvSpPr/>
          <p:nvPr/>
        </p:nvSpPr>
        <p:spPr>
          <a:xfrm>
            <a:off x="1188720" y="2359152"/>
            <a:ext cx="9966960" cy="54864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No — it needs convexity plus Slater's condition. I can show a non-convex counterexample with a nonzero gap.</a:t>
            </a:r>
            <a:endParaRPr lang="en-US" sz="1350" dirty="0"/>
          </a:p>
        </p:txBody>
      </p:sp>
      <p:sp>
        <p:nvSpPr>
          <p:cNvPr id="9" name="Shape 7"/>
          <p:cNvSpPr/>
          <p:nvPr/>
        </p:nvSpPr>
        <p:spPr>
          <a:xfrm>
            <a:off x="548640" y="3108960"/>
            <a:ext cx="11064240" cy="1234440"/>
          </a:xfrm>
          <a:prstGeom prst="roundRect">
            <a:avLst>
              <a:gd name="adj" fmla="val 5926"/>
            </a:avLst>
          </a:prstGeom>
          <a:solidFill>
            <a:srgbClr val="FFFFFF"/>
          </a:solidFill>
          <a:ln w="9525">
            <a:solidFill>
              <a:srgbClr val="E2E6F0"/>
            </a:solidFill>
            <a:prstDash val="solid"/>
          </a:ln>
        </p:spPr>
      </p:sp>
      <p:sp>
        <p:nvSpPr>
          <p:cNvPr id="10" name="Text 8"/>
          <p:cNvSpPr/>
          <p:nvPr/>
        </p:nvSpPr>
        <p:spPr>
          <a:xfrm>
            <a:off x="777240" y="3218688"/>
            <a:ext cx="457200" cy="45720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Q</a:t>
            </a:r>
            <a:endParaRPr lang="en-US" sz="1500" dirty="0"/>
          </a:p>
        </p:txBody>
      </p:sp>
      <p:sp>
        <p:nvSpPr>
          <p:cNvPr id="11" name="Text 9"/>
          <p:cNvSpPr/>
          <p:nvPr/>
        </p:nvSpPr>
        <p:spPr>
          <a:xfrm>
            <a:off x="1188720" y="3200400"/>
            <a:ext cx="996696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What does λ actually mean?</a:t>
            </a:r>
            <a:endParaRPr lang="en-US" sz="1500" dirty="0"/>
          </a:p>
        </p:txBody>
      </p:sp>
      <p:sp>
        <p:nvSpPr>
          <p:cNvPr id="12" name="Text 10"/>
          <p:cNvSpPr/>
          <p:nvPr/>
        </p:nvSpPr>
        <p:spPr>
          <a:xfrm>
            <a:off x="777240" y="3767328"/>
            <a:ext cx="457200" cy="45720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A</a:t>
            </a:r>
            <a:endParaRPr lang="en-US" sz="1500" dirty="0"/>
          </a:p>
        </p:txBody>
      </p:sp>
      <p:sp>
        <p:nvSpPr>
          <p:cNvPr id="13" name="Text 11"/>
          <p:cNvSpPr/>
          <p:nvPr/>
        </p:nvSpPr>
        <p:spPr>
          <a:xfrm>
            <a:off x="1188720" y="3730752"/>
            <a:ext cx="9966960" cy="54864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A shadow price — the rate of change of the optimal value per unit of constraint relaxation, which I derived directly.</a:t>
            </a:r>
            <a:endParaRPr lang="en-US" sz="1350" dirty="0"/>
          </a:p>
        </p:txBody>
      </p:sp>
      <p:sp>
        <p:nvSpPr>
          <p:cNvPr id="14" name="Shape 12"/>
          <p:cNvSpPr/>
          <p:nvPr/>
        </p:nvSpPr>
        <p:spPr>
          <a:xfrm>
            <a:off x="548640" y="4480560"/>
            <a:ext cx="11064240" cy="1234440"/>
          </a:xfrm>
          <a:prstGeom prst="roundRect">
            <a:avLst>
              <a:gd name="adj" fmla="val 5926"/>
            </a:avLst>
          </a:prstGeom>
          <a:solidFill>
            <a:srgbClr val="F2F4FA"/>
          </a:solidFill>
          <a:ln w="9525">
            <a:solidFill>
              <a:srgbClr val="E2E6F0"/>
            </a:solidFill>
            <a:prstDash val="solid"/>
          </a:ln>
        </p:spPr>
      </p:sp>
      <p:sp>
        <p:nvSpPr>
          <p:cNvPr id="15" name="Text 13"/>
          <p:cNvSpPr/>
          <p:nvPr/>
        </p:nvSpPr>
        <p:spPr>
          <a:xfrm>
            <a:off x="777240" y="4590288"/>
            <a:ext cx="457200" cy="45720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Q</a:t>
            </a:r>
            <a:endParaRPr lang="en-US" sz="1500" dirty="0"/>
          </a:p>
        </p:txBody>
      </p:sp>
      <p:sp>
        <p:nvSpPr>
          <p:cNvPr id="16" name="Text 14"/>
          <p:cNvSpPr/>
          <p:nvPr/>
        </p:nvSpPr>
        <p:spPr>
          <a:xfrm>
            <a:off x="1188720" y="4572000"/>
            <a:ext cx="996696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Why bother with the dual at all?</a:t>
            </a:r>
            <a:endParaRPr lang="en-US" sz="1500" dirty="0"/>
          </a:p>
        </p:txBody>
      </p:sp>
      <p:sp>
        <p:nvSpPr>
          <p:cNvPr id="17" name="Text 15"/>
          <p:cNvSpPr/>
          <p:nvPr/>
        </p:nvSpPr>
        <p:spPr>
          <a:xfrm>
            <a:off x="777240" y="5138928"/>
            <a:ext cx="457200" cy="457200"/>
          </a:xfrm>
          <a:prstGeom prst="rect">
            <a:avLst/>
          </a:prstGeom>
          <a:noFill/>
          <a:ln/>
        </p:spPr>
        <p:txBody>
          <a:bodyPr wrap="square" lIns="0" tIns="0" rIns="0" bIns="0" rtlCol="0" anchor="ctr"/>
          <a:lstStyle/>
          <a:p>
            <a:pPr indent="0" marL="0">
              <a:buNone/>
            </a:pPr>
            <a:r>
              <a:rPr lang="en-US" sz="1500" b="1" dirty="0">
                <a:solidFill>
                  <a:srgbClr val="C9922E"/>
                </a:solidFill>
                <a:latin typeface="Calibri" pitchFamily="34" charset="0"/>
                <a:ea typeface="Calibri" pitchFamily="34" charset="-122"/>
                <a:cs typeface="Calibri" pitchFamily="34" charset="-120"/>
              </a:rPr>
              <a:t>A</a:t>
            </a:r>
            <a:endParaRPr lang="en-US" sz="1500" dirty="0"/>
          </a:p>
        </p:txBody>
      </p:sp>
      <p:sp>
        <p:nvSpPr>
          <p:cNvPr id="18" name="Text 16"/>
          <p:cNvSpPr/>
          <p:nvPr/>
        </p:nvSpPr>
        <p:spPr>
          <a:xfrm>
            <a:off x="1188720" y="5102352"/>
            <a:ext cx="9966960" cy="548640"/>
          </a:xfrm>
          <a:prstGeom prst="rect">
            <a:avLst/>
          </a:prstGeom>
          <a:noFill/>
          <a:ln/>
        </p:spPr>
        <p:txBody>
          <a:bodyPr wrap="square" lIns="0" tIns="0" rIns="0" bIns="0" rtlCol="0" anchor="ctr"/>
          <a:lstStyle/>
          <a:p>
            <a:pPr indent="0" marL="0">
              <a:buNone/>
            </a:pPr>
            <a:r>
              <a:rPr lang="en-US" sz="1350" dirty="0">
                <a:solidFill>
                  <a:srgbClr val="3A3A3A"/>
                </a:solidFill>
                <a:latin typeface="Calibri" pitchFamily="34" charset="0"/>
                <a:ea typeface="Calibri" pitchFamily="34" charset="-122"/>
                <a:cs typeface="Calibri" pitchFamily="34" charset="-120"/>
              </a:rPr>
              <a:t>It can be cheaper to solve, and for SVM it exposes the kernel trick — invisible from the primal alone.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26517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p:nvPr/>
        </p:nvSpPr>
        <p:spPr>
          <a:xfrm>
            <a:off x="731520" y="3566160"/>
            <a:ext cx="10698480" cy="54864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2026-08-19T05:42:30Z</dcterms:created>
  <dcterms:modified xsi:type="dcterms:W3CDTF">2026-08-19T05:42:30Z</dcterms:modified>
</cp:coreProperties>
</file>